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77E0D0"/>
                </a:solidFill>
                <a:latin typeface="Aptos"/>
              </a:defRPr>
            </a:pPr>
            <a:r>
              <a:t>AFRICA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7863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Aptos"/>
              </a:defRPr>
            </a:pPr>
            <a:r>
              <a:t>Trusted city intelligence</a:t>
            </a:r>
            <a:br/>
            <a:r>
              <a:t>with live operational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D3E1E9"/>
                </a:solidFill>
                <a:latin typeface="Aptos"/>
              </a:defRPr>
            </a:pPr>
            <a:r>
              <a:t>Lagos, Abuja, and Cape Town | ClickHouse analytics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1097280"/>
            <a:ext cx="2697480" cy="4343400"/>
          </a:xfrm>
          <a:prstGeom prst="roundRect">
            <a:avLst>
              <a:gd name="adj" fmla="val 6000"/>
            </a:avLst>
          </a:prstGeom>
          <a:solidFill>
            <a:srgbClr val="193955"/>
          </a:solidFill>
          <a:ln>
            <a:solidFill>
              <a:srgbClr val="305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15400" y="1508760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77E0D0"/>
                </a:solidFill>
                <a:latin typeface="Aptos"/>
              </a:defRPr>
            </a:pPr>
            <a:r>
              <a:t>The decision standard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0" y="2148840"/>
            <a:ext cx="2057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300" b="1">
                <a:solidFill>
                  <a:srgbClr val="FFFFFF"/>
                </a:solidFill>
                <a:latin typeface="Aptos"/>
              </a:defRPr>
            </a:pPr>
            <a:r>
              <a:t>Can we trust</a:t>
            </a:r>
            <a:br/>
            <a:r>
              <a:t>the number?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333756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D3E1E9"/>
                </a:solidFill>
                <a:latin typeface="Aptos"/>
              </a:defRPr>
            </a:pPr>
            <a:r>
              <a:t>Every metric has source, time, quality, and recovery evidence.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3017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ABC2D2"/>
                </a:solidFill>
                <a:latin typeface="Aptos"/>
              </a:defRPr>
            </a:pPr>
            <a:r>
              <a:t>Technical leadership briefing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B6E99"/>
                </a:solidFill>
                <a:latin typeface="Aptos"/>
              </a:defRPr>
            </a:pPr>
            <a:r>
              <a:t>AFRICA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102A43"/>
                </a:solidFill>
                <a:latin typeface="Aptos"/>
              </a:defRPr>
            </a:pPr>
            <a:r>
              <a:t>The platform is working 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Live sources flow into ClickHouse facts, quality controls, and business marts.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08176"/>
            <a:ext cx="11155680" cy="18288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274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486581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91440" cy="1920240"/>
          </a:xfrm>
          <a:prstGeom prst="rect">
            <a:avLst/>
          </a:prstGeom>
          <a:solidFill>
            <a:srgbClr val="0B6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Cities served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0B6E99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Lagos, Abuja, and Cape Town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920240"/>
            <a:ext cx="91440" cy="1920240"/>
          </a:xfrm>
          <a:prstGeom prst="rect">
            <a:avLst/>
          </a:prstGeom>
          <a:solidFill>
            <a:srgbClr val="138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Traffic facts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138A72"/>
                </a:solidFill>
                <a:latin typeface="Aptos"/>
              </a:defRPr>
            </a:pPr>
            <a: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Five configured road samples per city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75320" y="1920240"/>
            <a:ext cx="91440" cy="192024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22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Operational source runs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B45309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12 completed; failures retained as 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348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02A43"/>
                </a:solidFill>
                <a:latin typeface="Aptos"/>
              </a:defRPr>
            </a:pPr>
            <a:r>
              <a:t>What this proves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82803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E364E"/>
                </a:solidFill>
                <a:latin typeface="Aptos"/>
              </a:defRPr>
            </a:pPr>
            <a:r>
              <a:t>The implementation is not a mock-up. Real TomTom, Open-Meteo, FX, OpenStreetMap, and World Bank responses have been acquired, validated, and made queryable.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B6E99"/>
                </a:solidFill>
                <a:latin typeface="Aptos"/>
              </a:defRPr>
            </a:pPr>
            <a:r>
              <a:t>AFRICA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102A43"/>
                </a:solidFill>
                <a:latin typeface="Aptos"/>
              </a:defRPr>
            </a:pPr>
            <a:r>
              <a:t>One comparable mobility source supports all three cities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TomTom Traffic Flow provides a road-congestion proxy with identical fields and collection rules.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08176"/>
            <a:ext cx="11155680" cy="18288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274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486581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91440" cy="1920240"/>
          </a:xfrm>
          <a:prstGeom prst="rect">
            <a:avLst/>
          </a:prstGeom>
          <a:solidFill>
            <a:srgbClr val="0B6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Abuja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0B6E99"/>
                </a:solidFill>
                <a:latin typeface="Aptos"/>
              </a:defRPr>
            </a:pPr>
            <a:r>
              <a:t>0.0%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Median congestion | 50% validated sample coverage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920240"/>
            <a:ext cx="91440" cy="1920240"/>
          </a:xfrm>
          <a:prstGeom prst="rect">
            <a:avLst/>
          </a:prstGeom>
          <a:solidFill>
            <a:srgbClr val="138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Cape Town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138A72"/>
                </a:solidFill>
                <a:latin typeface="Aptos"/>
              </a:defRPr>
            </a:pPr>
            <a:r>
              <a:t>32.0%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Median congestion | 50% validated sample coverage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75320" y="1920240"/>
            <a:ext cx="91440" cy="192024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22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Lagos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B45309"/>
                </a:solidFill>
                <a:latin typeface="Aptos"/>
              </a:defRPr>
            </a:pPr>
            <a:r>
              <a:t>27.6%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Median congestion | 50% validated sample coverage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59028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02A43"/>
                </a:solidFill>
                <a:latin typeface="Aptos"/>
              </a:defRPr>
            </a:pPr>
            <a:r>
              <a:t>Decision: report this as a sampled road-congestion proxy, never as ridership or passenger demand.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04748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86581"/>
                </a:solidFill>
                <a:latin typeface="Aptos"/>
              </a:defRPr>
            </a:pPr>
            <a:r>
              <a:t>Why: it is technically comparable across the portfolio, while its published coverage and confidence prevent over-interpretation.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B6E99"/>
                </a:solidFill>
                <a:latin typeface="Aptos"/>
              </a:defRPr>
            </a:pPr>
            <a:r>
              <a:t>AFRICA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102A43"/>
                </a:solidFill>
                <a:latin typeface="Aptos"/>
              </a:defRPr>
            </a:pPr>
            <a:r>
              <a:t>The architecture protects evidence before it produces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Every layer has a single responsibility and contributes to traceability.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08176"/>
            <a:ext cx="11155680" cy="18288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274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486581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48840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423160"/>
            <a:ext cx="1536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0B6E99"/>
                </a:solidFill>
                <a:latin typeface="Aptos"/>
              </a:defRPr>
            </a:pPr>
            <a:r>
              <a:t>Acquire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816352"/>
            <a:ext cx="15361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Source connectors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25420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B6E99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16352" y="2148840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80944" y="2423160"/>
            <a:ext cx="1536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138A72"/>
                </a:solidFill>
                <a:latin typeface="Aptos"/>
              </a:defRPr>
            </a:pPr>
            <a:r>
              <a:t>Preserve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0944" y="2816352"/>
            <a:ext cx="15361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Raw evidence + checksums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25420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B6E99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9783" y="2148840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94375" y="2423160"/>
            <a:ext cx="1536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B45309"/>
                </a:solidFill>
                <a:latin typeface="Aptos"/>
              </a:defRPr>
            </a:pPr>
            <a:r>
              <a:t>Validate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94375" y="2816352"/>
            <a:ext cx="15361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Quality rules + quarantine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0023" y="25420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B6E99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43216" y="2148840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07808" y="2423160"/>
            <a:ext cx="1536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B42318"/>
                </a:solidFill>
                <a:latin typeface="Aptos"/>
              </a:defRPr>
            </a:pPr>
            <a:r>
              <a:t>Integrate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8" y="2816352"/>
            <a:ext cx="15361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ClickHouse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63456" y="25420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B6E99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56648" y="2148840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21240" y="2423160"/>
            <a:ext cx="1536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0B6E99"/>
                </a:solidFill>
                <a:latin typeface="Aptos"/>
              </a:defRPr>
            </a:pPr>
            <a:r>
              <a:t>Serve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21240" y="2816352"/>
            <a:ext cx="15361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Daily marts + dashboard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206240"/>
            <a:ext cx="10972800" cy="960120"/>
          </a:xfrm>
          <a:prstGeom prst="roundRect">
            <a:avLst>
              <a:gd name="adj" fmla="val 6000"/>
            </a:avLst>
          </a:prstGeom>
          <a:solidFill>
            <a:srgbClr val="EBF7F5"/>
          </a:solidFill>
          <a:ln>
            <a:solidFill>
              <a:srgbClr val="C1E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507992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02A43"/>
                </a:solidFill>
                <a:latin typeface="Aptos"/>
              </a:defRPr>
            </a:pPr>
            <a:r>
              <a:t>Trust controls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4507992"/>
            <a:ext cx="8595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E364E"/>
                </a:solidFill>
                <a:latin typeface="Aptos"/>
              </a:defRPr>
            </a:pPr>
            <a:r>
              <a:t>Deterministic observation keys | run IDs | source checksums | freshness | validation outcomes | recovery history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B6E99"/>
                </a:solidFill>
                <a:latin typeface="Aptos"/>
              </a:defRPr>
            </a:pPr>
            <a:r>
              <a:t>AFRICA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102A43"/>
                </a:solidFill>
                <a:latin typeface="Aptos"/>
              </a:defRPr>
            </a:pPr>
            <a:r>
              <a:t>Failure is recorded and recovery is demonstrable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The platform retains operational history instead of hiding source problems.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08176"/>
            <a:ext cx="11155680" cy="18288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274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486581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91440" cy="192024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Latest commercial 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B42318"/>
                </a:solidFill>
                <a:latin typeface="Aptos"/>
              </a:defRPr>
            </a:pPr>
            <a:r>
              <a:t>FAILED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Rate-limited source failure is retained and visible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920240"/>
            <a:ext cx="91440" cy="1920240"/>
          </a:xfrm>
          <a:prstGeom prst="rect">
            <a:avLst/>
          </a:prstGeom>
          <a:solidFill>
            <a:srgbClr val="138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Recovery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138A72"/>
                </a:solidFill>
                <a:latin typeface="Aptos"/>
              </a:defRPr>
            </a:pPr>
            <a:r>
              <a:t>Buffered write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Future snapshots publish only after all cities are acquired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75320" y="1920240"/>
            <a:ext cx="91440" cy="1920240"/>
          </a:xfrm>
          <a:prstGeom prst="rect">
            <a:avLst/>
          </a:prstGeom>
          <a:solidFill>
            <a:srgbClr val="0B6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22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Duplicate rerun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0B6E99"/>
                </a:solidFill>
                <a:latin typeface="Aptos"/>
              </a:defRPr>
            </a:pPr>
            <a:r>
              <a:t>0 inserts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Second TomTom run kept the fact count stable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34840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02A43"/>
                </a:solidFill>
                <a:latin typeface="Aptos"/>
              </a:defRPr>
            </a:pPr>
            <a:r>
              <a:t>Why this matters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82803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E364E"/>
                </a:solidFill>
                <a:latin typeface="Aptos"/>
              </a:defRPr>
            </a:pPr>
            <a:r>
              <a:t>An independent engineer can see what failed, inspect the source evidence, wait for the provider limit to clear, rerun the workflow, and prove that recovery did not duplicate records.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B6E99"/>
                </a:solidFill>
                <a:latin typeface="Aptos"/>
              </a:defRPr>
            </a:pPr>
            <a:r>
              <a:t>AFRICA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102A43"/>
                </a:solidFill>
                <a:latin typeface="Aptos"/>
              </a:defRPr>
            </a:pPr>
            <a:r>
              <a:t>The City Intelligence Score refuses to overstate 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Components remain visible, but a rank is withheld until the evidence is sufficient.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08176"/>
            <a:ext cx="11155680" cy="18288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274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486581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91440" cy="1920240"/>
          </a:xfrm>
          <a:prstGeom prst="rect">
            <a:avLst/>
          </a:prstGeom>
          <a:solidFill>
            <a:srgbClr val="0B6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Abuja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0B6E99"/>
                </a:solidFill>
                <a:latin typeface="Aptos"/>
              </a:defRPr>
            </a:pPr>
            <a:r>
              <a:t>unavailable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50% weighted component coverage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920240"/>
            <a:ext cx="91440" cy="1920240"/>
          </a:xfrm>
          <a:prstGeom prst="rect">
            <a:avLst/>
          </a:prstGeom>
          <a:solidFill>
            <a:srgbClr val="138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Cape Town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138A72"/>
                </a:solidFill>
                <a:latin typeface="Aptos"/>
              </a:defRPr>
            </a:pPr>
            <a:r>
              <a:t>unavailable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50% weighted component coverage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75320" y="1920240"/>
            <a:ext cx="91440" cy="192024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22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Lagos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B45309"/>
                </a:solidFill>
                <a:latin typeface="Aptos"/>
              </a:defRPr>
            </a:pPr>
            <a:r>
              <a:t>unavailable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50% weighted component coverage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80560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02A43"/>
                </a:solidFill>
                <a:latin typeface="Aptos"/>
              </a:defRPr>
            </a:pPr>
            <a:r>
              <a:t>Current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864608"/>
            <a:ext cx="10698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E364E"/>
                </a:solidFill>
                <a:latin typeface="Aptos"/>
              </a:defRPr>
            </a:pPr>
            <a:r>
              <a:t>A numeric score requires approved commercial-density denominators, seven days of FX history, and 28 days of trend history. Until then, `unavailable` is the correct decision-grade result.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B6E99"/>
                </a:solidFill>
                <a:latin typeface="Aptos"/>
              </a:defRPr>
            </a:pPr>
            <a:r>
              <a:t>AFRICA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102A43"/>
                </a:solidFill>
                <a:latin typeface="Aptos"/>
              </a:defRPr>
            </a:pPr>
            <a:r>
              <a:t>Every required question has an evidence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The platform reports whether a conclusion is supported, partial, or not yet answerable.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08176"/>
            <a:ext cx="11155680" cy="18288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274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486581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5074920" cy="896112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911095"/>
            <a:ext cx="3383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02A43"/>
                </a:solidFill>
                <a:latin typeface="Aptos"/>
              </a:defRPr>
            </a:pPr>
            <a:r>
              <a:t>Mobility And Commercial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42232" y="1911095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1">
                <a:solidFill>
                  <a:srgbClr val="B45309"/>
                </a:solidFill>
                <a:latin typeface="Aptos"/>
              </a:defRPr>
            </a:pPr>
            <a:r>
              <a:t>PARTIAL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85415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486581"/>
                </a:solidFill>
                <a:latin typeface="Aptos"/>
              </a:defRPr>
            </a:pPr>
            <a:r>
              <a:t>Mobility is a sampled congestion proxy; commercial counts are not density without an approved boundary and population denominator.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55648"/>
            <a:ext cx="5074920" cy="896112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911095"/>
            <a:ext cx="3383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02A43"/>
                </a:solidFill>
                <a:latin typeface="Aptos"/>
              </a:defRPr>
            </a:pPr>
            <a:r>
              <a:t>Weather And Mobility Relationship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65792" y="1911095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1">
                <a:solidFill>
                  <a:srgbClr val="B42318"/>
                </a:solidFill>
                <a:latin typeface="Aptos"/>
              </a:defRPr>
            </a:pPr>
            <a:r>
              <a:t>NOT READY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185415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486581"/>
                </a:solidFill>
                <a:latin typeface="Aptos"/>
              </a:defRPr>
            </a:pPr>
            <a:r>
              <a:t>Requires 28 shared local days; currently mobility_days=2, climate_days=2.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16936"/>
            <a:ext cx="5074920" cy="896112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072384"/>
            <a:ext cx="3383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02A43"/>
                </a:solidFill>
                <a:latin typeface="Aptos"/>
              </a:defRPr>
            </a:pPr>
            <a:r>
              <a:t>Environmental Pressure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2232" y="30723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1">
                <a:solidFill>
                  <a:srgbClr val="B45309"/>
                </a:solidFill>
                <a:latin typeface="Aptos"/>
              </a:defRPr>
            </a:pPr>
            <a:r>
              <a:t>PARTIAL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46704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486581"/>
                </a:solidFill>
                <a:latin typeface="Aptos"/>
              </a:defRPr>
            </a:pPr>
            <a:r>
              <a:t>Available as modelled PM2.5, PM10, and NO2 at each configured reference coordinate; not a ground-station city-wide measure.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2916936"/>
            <a:ext cx="5074920" cy="896112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072384"/>
            <a:ext cx="3383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02A43"/>
                </a:solidFill>
                <a:latin typeface="Aptos"/>
              </a:defRPr>
            </a:pPr>
            <a:r>
              <a:t>Currency And Fuel Transport Economics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65792" y="30723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1">
                <a:solidFill>
                  <a:srgbClr val="B42318"/>
                </a:solidFill>
                <a:latin typeface="Aptos"/>
              </a:defRPr>
            </a:pPr>
            <a:r>
              <a:t>NOT READY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346704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486581"/>
                </a:solidFill>
                <a:latin typeface="Aptos"/>
              </a:defRPr>
            </a:pPr>
            <a:r>
              <a:t>FX exists, but no permitted fuel-market source has been integrated. Add a documented official or licensed fuel-price source before analysis.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078224"/>
            <a:ext cx="5074920" cy="896112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233672"/>
            <a:ext cx="3383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02A43"/>
                </a:solidFill>
                <a:latin typeface="Aptos"/>
              </a:defRPr>
            </a:pPr>
            <a:r>
              <a:t>Commercial Services Relative To Population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42232" y="423367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1">
                <a:solidFill>
                  <a:srgbClr val="B42318"/>
                </a:solidFill>
                <a:latin typeface="Aptos"/>
              </a:defRPr>
            </a:pPr>
            <a:r>
              <a:t>NOT READY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507992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486581"/>
                </a:solidFill>
                <a:latin typeface="Aptos"/>
              </a:defRPr>
            </a:pPr>
            <a:r>
              <a:t>Requires an approved municipal boundary, a population denominator with reference date, and comparable commercial coverage.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4078224"/>
            <a:ext cx="5074920" cy="896112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4233672"/>
            <a:ext cx="3383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02A43"/>
                </a:solidFill>
                <a:latin typeface="Aptos"/>
              </a:defRPr>
            </a:pPr>
            <a:r>
              <a:t>Improving Or Deteriorating Over 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423367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1">
                <a:solidFill>
                  <a:srgbClr val="B42318"/>
                </a:solidFill>
                <a:latin typeface="Aptos"/>
              </a:defRPr>
            </a:pPr>
            <a:r>
              <a:t>NOT READY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507992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486581"/>
                </a:solidFill>
                <a:latin typeface="Aptos"/>
              </a:defRPr>
            </a:pPr>
            <a:r>
              <a:t>Requires 28 local days; currently mobility_days=2.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39512"/>
            <a:ext cx="5074920" cy="896112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394960"/>
            <a:ext cx="3383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02A43"/>
                </a:solidFill>
                <a:latin typeface="Aptos"/>
              </a:defRPr>
            </a:pPr>
            <a:r>
              <a:t>Defensible City Intelligence Score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42232" y="5394960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1">
                <a:solidFill>
                  <a:srgbClr val="B42318"/>
                </a:solidFill>
                <a:latin typeface="Aptos"/>
              </a:defRPr>
            </a:pPr>
            <a:r>
              <a:t>NOT READY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66928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486581"/>
                </a:solidFill>
                <a:latin typeface="Aptos"/>
              </a:defRPr>
            </a:pPr>
            <a:r>
              <a:t>Requires approved commercial denominator, seven FX days, and 28 trend days; currently fx_days=2, mobility_days=2.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B6E99"/>
                </a:solidFill>
                <a:latin typeface="Aptos"/>
              </a:defRPr>
            </a:pPr>
            <a:r>
              <a:t>AFRICA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102A43"/>
                </a:solidFill>
                <a:latin typeface="Aptos"/>
              </a:defRPr>
            </a:pPr>
            <a:r>
              <a:t>The next decision is operational maturity, not new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The platform is demonstrable today; scheduled collection will turn the initial vertical slice into a historical decision asset.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08176"/>
            <a:ext cx="11155680" cy="18288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274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486581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920240"/>
            <a:ext cx="5074920" cy="105156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21992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B6E99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57984"/>
            <a:ext cx="39776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02A43"/>
                </a:solidFill>
                <a:latin typeface="Aptos"/>
              </a:defRPr>
            </a:pPr>
            <a:r>
              <a:t>Schedule every two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496312"/>
            <a:ext cx="39776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Build the FX and traffic history window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074920" cy="105156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221992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38A72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157984"/>
            <a:ext cx="39776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02A43"/>
                </a:solidFill>
                <a:latin typeface="Aptos"/>
              </a:defRPr>
            </a:pPr>
            <a:r>
              <a:t>Monitor operational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496312"/>
            <a:ext cx="39776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Act on freshness, failure, and quality 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401568"/>
            <a:ext cx="5074920" cy="105156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703320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45309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639312"/>
            <a:ext cx="39776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02A43"/>
                </a:solidFill>
                <a:latin typeface="Aptos"/>
              </a:defRPr>
            </a:pPr>
            <a:r>
              <a:t>Approve score inputs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977640"/>
            <a:ext cx="39776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Confirm municipal boundaries and commercial-density denominator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401568"/>
            <a:ext cx="5074920" cy="105156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703320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42318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3639312"/>
            <a:ext cx="39776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02A43"/>
                </a:solidFill>
                <a:latin typeface="Aptos"/>
              </a:defRPr>
            </a:pPr>
            <a:r>
              <a:t>Scale after measurement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977640"/>
            <a:ext cx="39776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Add workers or aggregates only when the workload proves the need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376672"/>
            <a:ext cx="10652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02A43"/>
                </a:solidFill>
                <a:latin typeface="Aptos"/>
              </a:defRPr>
            </a:pPr>
            <a:r>
              <a:t>Decision requested: approve the operating cadence and the data-governance inputs needed for a fully published City Intelligence Score.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Africa Pulse Live Platform Briefing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