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77E0D0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Aptos"/>
              </a:defRPr>
            </a:pPr>
            <a:r>
              <a:t>Trusted city intelligence</a:t>
            </a:r>
            <a:br/>
            <a:r>
              <a:t>with live operational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D3E1E9"/>
                </a:solidFill>
                <a:latin typeface="Aptos"/>
              </a:defRPr>
            </a:pPr>
            <a:r>
              <a:t>Lagos, Abuja, and Cape Town | ClickHouse analytics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09728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193955"/>
          </a:solidFill>
          <a:ln>
            <a:solidFill>
              <a:srgbClr val="305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150876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7E0D0"/>
                </a:solidFill>
                <a:latin typeface="Aptos"/>
              </a:defRPr>
            </a:pPr>
            <a:r>
              <a:t>The decision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14884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Can we trust</a:t>
            </a:r>
            <a:br/>
            <a:r>
              <a:t>the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333756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D3E1E9"/>
                </a:solidFill>
                <a:latin typeface="Aptos"/>
              </a:defRPr>
            </a:pPr>
            <a:r>
              <a:t>Every metric has source, time, quality, and recovery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3017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BC2D2"/>
                </a:solidFill>
                <a:latin typeface="Aptos"/>
              </a:defRPr>
            </a:pPr>
            <a:r>
              <a:t>Technical leadership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platform is working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Live sources flow into ClickHouse facts, quality controls, and business marts.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Cities 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Lagos, Abuja, and Cape Town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Live traffic 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Five validated road samples per 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Operational source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12 completed; failures retained as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What this proves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The implementation is not a mock-up. Real TomTom, Open-Meteo, FX, OpenStreetMap, and World Bank responses have been acquired, validated, and made queryable.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One comparable mobility source supports all three cities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TomTom Traffic Flow provides a road-congestion proxy with identical fields and collection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32.0%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27.6%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Decision: report this as a sampled road-congestion proxy, never as ridership or passenger demand.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474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86581"/>
                </a:solidFill>
                <a:latin typeface="Aptos"/>
              </a:defRPr>
            </a:pPr>
            <a:r>
              <a:t>Why: it is technically comparable across the portfolio, while its published coverage and confidence prevent over-interpretation.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architecture protects evidence before it produces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Every layer has a single responsibility and contributes to traceability.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Acquire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Source connectors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8A72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Raw evidence + checksums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9783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94375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5309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4375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Quality rules + quarantine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3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43216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7808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2318"/>
                </a:solidFill>
                <a:latin typeface="Aptos"/>
              </a:defRPr>
            </a:pPr>
            <a:r>
              <a:t>Integrate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ClickHouse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56648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Daily marts +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EBF7F5"/>
          </a:solidFill>
          <a:ln>
            <a:solidFill>
              <a:srgbClr val="C1E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0799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02A43"/>
                </a:solidFill>
                <a:latin typeface="Aptos"/>
              </a:defRPr>
            </a:pPr>
            <a:r>
              <a:t>Trust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4507992"/>
            <a:ext cx="8595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E364E"/>
                </a:solidFill>
                <a:latin typeface="Aptos"/>
              </a:defRPr>
            </a:pPr>
            <a:r>
              <a:t>Deterministic observation keys | run IDs | source checksums | freshness | validation outcomes | recovery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Failure is recorded and recovery is demonstrable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retains operational history instead of hiding source problems.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Overpass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2318"/>
                </a:solidFill>
                <a:latin typeface="Aptos"/>
              </a:defRPr>
            </a:pPr>
            <a:r>
              <a:t>HTTP 406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Initial commercial request failed and was logged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POST 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Completed after connector adjustment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Duplicate rerun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 inserts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Second TomTom run kept the fact count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An independent engineer can see what failed, inspect the source evidence, correct the connector, rerun the workflow, and prove that recovery did not duplicate records.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City Intelligence Score refuses to overstate 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Components remain visible, but a rank is withheld until the evidence is sufficient.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Current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64608"/>
            <a:ext cx="10698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E364E"/>
                </a:solidFill>
                <a:latin typeface="Aptos"/>
              </a:defRPr>
            </a:pPr>
            <a:r>
              <a:t>A numeric score requires approved commercial-density denominators, seven days of FX history, and 28 days of trend history. Until then, `unavailable` is the correct decision-grade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next decision is operational maturity, not new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is demonstrable today; scheduled collection will turn the initial vertical slice into a historical decision asset.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B6E99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Schedule every two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Build the FX and traffic history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8A7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Monitor operational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Act on freshness, failure, and quality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530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Approve score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Confirm municipal boundaries and commercial-density denominator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231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Scale after measurement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Add workers or aggregates only when the workload proves the need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76672"/>
            <a:ext cx="10652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 requested: approve the operating cadence and the data-governance inputs needed for a fully published City Intelligence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Africa Pulse Live Platform Briefing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